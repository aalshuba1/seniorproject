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9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13824" userDrawn="1">
          <p15:clr>
            <a:srgbClr val="A4A3A4"/>
          </p15:clr>
        </p15:guide>
        <p15:guide id="3" orient="horz" pos="1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0"/>
    <p:restoredTop sz="96286"/>
  </p:normalViewPr>
  <p:slideViewPr>
    <p:cSldViewPr snapToObjects="1" showGuides="1">
      <p:cViewPr varScale="1">
        <p:scale>
          <a:sx n="23" d="100"/>
          <a:sy n="23" d="100"/>
        </p:scale>
        <p:origin x="1536" y="600"/>
      </p:cViewPr>
      <p:guideLst>
        <p:guide orient="horz" pos="3168"/>
        <p:guide pos="13824"/>
        <p:guide orient="horz" pos="12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8CA95-763A-F941-AD90-E4F3CE4203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7A25B-DBB4-9B44-83A8-A5A830993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2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7A25B-DBB4-9B44-83A8-A5A8309934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4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4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5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8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1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31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7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2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9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0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0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854DB-CBC7-0642-9B13-3D054C97565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EFD99-2212-BC44-902F-9C832BF7C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9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learning.coachesvoice.com/cv/expected-goals-xg-explained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rand Graphic Elements (Web)">
            <a:extLst>
              <a:ext uri="{FF2B5EF4-FFF2-40B4-BE49-F238E27FC236}">
                <a16:creationId xmlns:a16="http://schemas.microsoft.com/office/drawing/2014/main" id="{7659917D-2040-59FB-4679-763567A30A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29045" y="-7110194"/>
            <a:ext cx="34911846" cy="29174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rand Graphic Elements (Web)">
            <a:extLst>
              <a:ext uri="{FF2B5EF4-FFF2-40B4-BE49-F238E27FC236}">
                <a16:creationId xmlns:a16="http://schemas.microsoft.com/office/drawing/2014/main" id="{ADD598A1-1DF6-1368-D202-069B33F069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898"/>
          <a:stretch/>
        </p:blipFill>
        <p:spPr bwMode="auto">
          <a:xfrm>
            <a:off x="19727342" y="6962991"/>
            <a:ext cx="26610609" cy="2603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15E2D8-43D2-0806-3096-FEB0262CB21F}"/>
              </a:ext>
            </a:extLst>
          </p:cNvPr>
          <p:cNvSpPr txBox="1"/>
          <p:nvPr/>
        </p:nvSpPr>
        <p:spPr>
          <a:xfrm>
            <a:off x="172072" y="5495273"/>
            <a:ext cx="13716000" cy="1141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venir Book" panose="02000503020000020003" pitchFamily="2" charset="0"/>
                <a:cs typeface="Times New Roman" panose="02020603050405020304" pitchFamily="18" charset="0"/>
              </a:rPr>
              <a:t>INTRODUCTION / LITERATURE REVIEW</a:t>
            </a:r>
          </a:p>
          <a:p>
            <a:endParaRPr lang="en-US" sz="4000" dirty="0">
              <a:latin typeface="Avenir Book" panose="02000503020000020003" pitchFamily="2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500" dirty="0"/>
              <a:t>One of the most popular metrics is Expected Goals (</a:t>
            </a:r>
            <a:r>
              <a:rPr lang="en-US" sz="5500" dirty="0" err="1"/>
              <a:t>xG</a:t>
            </a:r>
            <a:r>
              <a:rPr lang="en-US" sz="5500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500" dirty="0" err="1"/>
              <a:t>xG</a:t>
            </a:r>
            <a:r>
              <a:rPr lang="en-US" sz="5500" dirty="0"/>
              <a:t> measures the quality of scoring chances based on factors like shot location and angle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500" dirty="0"/>
              <a:t>Instead of only counting goals, </a:t>
            </a:r>
            <a:r>
              <a:rPr lang="en-US" sz="5500" dirty="0" err="1"/>
              <a:t>xG</a:t>
            </a:r>
            <a:r>
              <a:rPr lang="en-US" sz="5500" dirty="0"/>
              <a:t> estimates how many goals a team </a:t>
            </a:r>
            <a:r>
              <a:rPr lang="en-US" sz="5500" i="1" dirty="0"/>
              <a:t>should</a:t>
            </a:r>
            <a:r>
              <a:rPr lang="en-US" sz="5500" dirty="0"/>
              <a:t> score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500" dirty="0"/>
              <a:t>This helps reduce randomness in soccer, where outcomes can be unpredictable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500" dirty="0"/>
              <a:t>However, it is still important to test how well </a:t>
            </a:r>
            <a:r>
              <a:rPr lang="en-US" sz="5500" dirty="0" err="1"/>
              <a:t>xG</a:t>
            </a:r>
            <a:r>
              <a:rPr lang="en-US" sz="5500" dirty="0"/>
              <a:t> actually predicts real goals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600" dirty="0">
              <a:latin typeface="Avenir Book" panose="02000503020000020003" pitchFamily="2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Avenir Book" panose="02000503020000020003" pitchFamily="2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FE3AA-12B1-9C29-88A2-46744AA36F1B}"/>
              </a:ext>
            </a:extLst>
          </p:cNvPr>
          <p:cNvSpPr txBox="1"/>
          <p:nvPr/>
        </p:nvSpPr>
        <p:spPr>
          <a:xfrm>
            <a:off x="76200" y="16107048"/>
            <a:ext cx="14773587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venir Book" panose="02000503020000020003" pitchFamily="2" charset="0"/>
                <a:cs typeface="Times New Roman" panose="02020603050405020304" pitchFamily="18" charset="0"/>
              </a:rPr>
              <a:t>PROCESS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000" dirty="0"/>
              <a:t>Collected </a:t>
            </a:r>
            <a:r>
              <a:rPr lang="en-US" sz="5000" dirty="0" err="1"/>
              <a:t>Understat</a:t>
            </a:r>
            <a:r>
              <a:rPr lang="en-US" sz="5000" dirty="0"/>
              <a:t> match data (24,000+ observations)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000" dirty="0"/>
              <a:t>Selected variables: goals, </a:t>
            </a:r>
            <a:r>
              <a:rPr lang="en-US" sz="5000" dirty="0" err="1"/>
              <a:t>xG</a:t>
            </a:r>
            <a:r>
              <a:rPr lang="en-US" sz="5000" dirty="0"/>
              <a:t>, and related metrics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000" dirty="0"/>
              <a:t>Built multiple models: linear, polynomial, Negative Binomial Regression, Ridge Regression, and Poisson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000" dirty="0"/>
              <a:t>Included pressing variables to improve analysis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5000" dirty="0"/>
              <a:t>Evaluated how well </a:t>
            </a:r>
            <a:r>
              <a:rPr lang="en-US" sz="5000" dirty="0" err="1"/>
              <a:t>xG</a:t>
            </a:r>
            <a:r>
              <a:rPr lang="en-US" sz="5000" dirty="0"/>
              <a:t> predicts goals</a:t>
            </a:r>
            <a:endParaRPr lang="en-US" sz="5000" dirty="0">
              <a:latin typeface="Avenir Book" panose="02000503020000020003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85FB19-5864-CFE8-7F26-E7F2FC14ABF9}"/>
              </a:ext>
            </a:extLst>
          </p:cNvPr>
          <p:cNvSpPr txBox="1"/>
          <p:nvPr/>
        </p:nvSpPr>
        <p:spPr>
          <a:xfrm>
            <a:off x="29302742" y="2184406"/>
            <a:ext cx="137160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b="1" dirty="0">
                <a:latin typeface="Avenir Book" panose="02000503020000020003" pitchFamily="2" charset="0"/>
                <a:cs typeface="Times New Roman" panose="02020603050405020304" pitchFamily="18" charset="0"/>
              </a:rPr>
              <a:t>RESULTS / DATA / EVIDENCE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000" dirty="0"/>
              <a:t>Scatterplot shows strong positive relationship between </a:t>
            </a:r>
            <a:r>
              <a:rPr lang="en-US" sz="5000" dirty="0" err="1"/>
              <a:t>xG</a:t>
            </a:r>
            <a:r>
              <a:rPr lang="en-US" sz="5000" dirty="0"/>
              <a:t> and goals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000" dirty="0"/>
              <a:t>Linear and Poisson models both confirm this trend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000" dirty="0">
                <a:latin typeface="Avenir Book" panose="02000503020000020003" pitchFamily="2" charset="0"/>
                <a:cs typeface="Times New Roman" panose="02020603050405020304" pitchFamily="18" charset="0"/>
              </a:rPr>
              <a:t>Mohamed </a:t>
            </a:r>
            <a:r>
              <a:rPr lang="en-US" sz="5000" dirty="0"/>
              <a:t>Salah example shows players with high </a:t>
            </a:r>
            <a:r>
              <a:rPr lang="en-US" sz="5000" dirty="0" err="1"/>
              <a:t>xG</a:t>
            </a:r>
            <a:r>
              <a:rPr lang="en-US" sz="5000" dirty="0"/>
              <a:t> score more goals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000" dirty="0"/>
              <a:t>Models show </a:t>
            </a:r>
            <a:r>
              <a:rPr lang="en-US" sz="5000" dirty="0" err="1"/>
              <a:t>xG</a:t>
            </a:r>
            <a:r>
              <a:rPr lang="en-US" sz="5000" dirty="0"/>
              <a:t> variables are statistically significant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000" dirty="0" err="1"/>
              <a:t>xG</a:t>
            </a:r>
            <a:r>
              <a:rPr lang="en-US" sz="5000" dirty="0"/>
              <a:t> predicts goals well, but randomness still exists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5500" b="1" dirty="0">
              <a:latin typeface="Avenir Book" panose="02000503020000020003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DD54C-039F-3CC0-CF04-92D71A9EA867}"/>
              </a:ext>
            </a:extLst>
          </p:cNvPr>
          <p:cNvSpPr txBox="1"/>
          <p:nvPr/>
        </p:nvSpPr>
        <p:spPr>
          <a:xfrm>
            <a:off x="14710287" y="16478250"/>
            <a:ext cx="13716000" cy="12311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Avenir Book" panose="02000503020000020003" pitchFamily="2" charset="0"/>
                <a:cs typeface="Times New Roman" panose="02020603050405020304" pitchFamily="18" charset="0"/>
              </a:rPr>
              <a:t>DISCUSSION/CONCLUSIONS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000" dirty="0"/>
              <a:t>The results show that expected goals (</a:t>
            </a:r>
            <a:r>
              <a:rPr lang="en-US" sz="5000" dirty="0" err="1"/>
              <a:t>xG</a:t>
            </a:r>
            <a:r>
              <a:rPr lang="en-US" sz="5000" dirty="0"/>
              <a:t>) is a strong predictor of goals scored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000" dirty="0"/>
              <a:t>The scatterplot and regression models both show a clear positive relationship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000" dirty="0"/>
              <a:t>Models such as linear and Poisson regression confirmed that </a:t>
            </a:r>
            <a:r>
              <a:rPr lang="en-US" sz="5000" dirty="0" err="1"/>
              <a:t>xG</a:t>
            </a:r>
            <a:r>
              <a:rPr lang="en-US" sz="5000" dirty="0"/>
              <a:t> variables are statistically significant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400" dirty="0"/>
              <a:t>Real-world examples, such as Mohamed Salah, support the results since players with higher </a:t>
            </a:r>
            <a:r>
              <a:rPr lang="en-US" sz="5400" dirty="0" err="1"/>
              <a:t>xG</a:t>
            </a:r>
            <a:r>
              <a:rPr lang="en-US" sz="5400" dirty="0"/>
              <a:t> tend to score more goals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400" dirty="0"/>
              <a:t>However, </a:t>
            </a:r>
            <a:r>
              <a:rPr lang="en-US" sz="5400" dirty="0" err="1"/>
              <a:t>xG</a:t>
            </a:r>
            <a:r>
              <a:rPr lang="en-US" sz="5400" dirty="0"/>
              <a:t> does not perfectly predict goals because soccer includes randomness and unpredictability</a:t>
            </a:r>
            <a:endParaRPr lang="en-US" sz="5000" dirty="0">
              <a:latin typeface="Avenir Book" panose="02000503020000020003" pitchFamily="2" charset="0"/>
              <a:cs typeface="Times New Roman" panose="02020603050405020304" pitchFamily="18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000" dirty="0">
              <a:latin typeface="Avenir Book" panose="02000503020000020003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2F0C5-86DB-6C38-5CDB-CED224E3D813}"/>
              </a:ext>
            </a:extLst>
          </p:cNvPr>
          <p:cNvSpPr txBox="1"/>
          <p:nvPr/>
        </p:nvSpPr>
        <p:spPr>
          <a:xfrm>
            <a:off x="29166173" y="24199767"/>
            <a:ext cx="1419162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venir Book" panose="02000503020000020003" pitchFamily="2" charset="0"/>
                <a:cs typeface="Times New Roman" panose="02020603050405020304" pitchFamily="18" charset="0"/>
              </a:rPr>
              <a:t>ACKNOWLEDGEMENTS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000" dirty="0"/>
              <a:t>I would like to thank professor </a:t>
            </a:r>
            <a:br>
              <a:rPr lang="en-US" sz="5000" dirty="0"/>
            </a:br>
            <a:r>
              <a:rPr lang="en-US" sz="5000" dirty="0"/>
              <a:t>Jonathan L Auerbach for guidance and support throughout this project.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000" dirty="0"/>
              <a:t>Finally, I acknowledge </a:t>
            </a:r>
            <a:r>
              <a:rPr lang="en-US" sz="5000" dirty="0" err="1"/>
              <a:t>Understat</a:t>
            </a:r>
            <a:r>
              <a:rPr lang="en-US" sz="5000" dirty="0"/>
              <a:t> for providing the dataset used in this analysis</a:t>
            </a:r>
          </a:p>
          <a:p>
            <a:endParaRPr lang="en-US" sz="5500" dirty="0"/>
          </a:p>
          <a:p>
            <a:endParaRPr lang="en-US" sz="5500" dirty="0">
              <a:latin typeface="Avenir Book" panose="02000503020000020003" pitchFamily="2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831AF-555A-D3AE-7805-F68F0E6C2466}"/>
              </a:ext>
            </a:extLst>
          </p:cNvPr>
          <p:cNvSpPr txBox="1"/>
          <p:nvPr/>
        </p:nvSpPr>
        <p:spPr>
          <a:xfrm>
            <a:off x="7315200" y="1221386"/>
            <a:ext cx="29260800" cy="3557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Does Expected Goals </a:t>
            </a:r>
            <a:r>
              <a:rPr lang="en-US" sz="8000" dirty="0" err="1"/>
              <a:t>xG</a:t>
            </a:r>
            <a:r>
              <a:rPr lang="en-US" sz="8000" dirty="0"/>
              <a:t> Predict Actual Goals ? </a:t>
            </a:r>
          </a:p>
          <a:p>
            <a:r>
              <a:rPr lang="en-US" dirty="0">
                <a:latin typeface="Avenir Book" panose="02000503020000020003" pitchFamily="2" charset="0"/>
                <a:cs typeface="Times New Roman" panose="02020603050405020304" pitchFamily="18" charset="0"/>
              </a:rPr>
              <a:t>Abdullah Alshubaily</a:t>
            </a:r>
          </a:p>
          <a:p>
            <a:r>
              <a:rPr lang="en-US" dirty="0">
                <a:latin typeface="Avenir Book" panose="02000503020000020003" pitchFamily="2" charset="0"/>
                <a:cs typeface="Times New Roman" panose="02020603050405020304" pitchFamily="18" charset="0"/>
              </a:rPr>
              <a:t>Statistics Major with Concentration Sports Analytics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082CA1-85E4-371A-13E8-460494F50C05}"/>
              </a:ext>
            </a:extLst>
          </p:cNvPr>
          <p:cNvSpPr/>
          <p:nvPr/>
        </p:nvSpPr>
        <p:spPr>
          <a:xfrm>
            <a:off x="14849787" y="5368976"/>
            <a:ext cx="13181180" cy="9087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venir Book" panose="02000503020000020003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  <a:cs typeface="Times New Roman" panose="02020603050405020304" pitchFamily="18" charset="0"/>
              </a:rPr>
              <a:t>I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A3F984-F200-71F9-C3CF-8828B20920AA}"/>
              </a:ext>
            </a:extLst>
          </p:cNvPr>
          <p:cNvGrpSpPr/>
          <p:nvPr/>
        </p:nvGrpSpPr>
        <p:grpSpPr>
          <a:xfrm>
            <a:off x="533401" y="22599164"/>
            <a:ext cx="13868400" cy="10020423"/>
            <a:chOff x="537882" y="12131040"/>
            <a:chExt cx="13868400" cy="1002042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D638F20-E009-AFD8-F407-EFA06B6F0B46}"/>
                </a:ext>
              </a:extLst>
            </p:cNvPr>
            <p:cNvSpPr/>
            <p:nvPr/>
          </p:nvSpPr>
          <p:spPr>
            <a:xfrm>
              <a:off x="537882" y="12131040"/>
              <a:ext cx="13716000" cy="925157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endPara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algn="ctr"/>
              <a:r>
                <a:rPr lang="en-US" sz="45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Image from this posts</a:t>
              </a:r>
            </a:p>
            <a:p>
              <a:pPr algn="ctr"/>
              <a:r>
                <a:rPr lang="en-US" sz="4500" b="1" dirty="0">
                  <a:solidFill>
                    <a:srgbClr val="0563C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https://learning.coachesvoice.com/cv/expected-goals-xg-explained/</a:t>
              </a:r>
              <a:endParaRPr lang="en-US" sz="4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5000" dirty="0">
                <a:solidFill>
                  <a:schemeClr val="tx1"/>
                </a:solidFill>
                <a:latin typeface="Avenir Book" panose="02000503020000020003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615C381-DB9C-9F49-9B46-F61A03350A10}"/>
                </a:ext>
              </a:extLst>
            </p:cNvPr>
            <p:cNvSpPr txBox="1"/>
            <p:nvPr/>
          </p:nvSpPr>
          <p:spPr>
            <a:xfrm>
              <a:off x="690282" y="21443577"/>
              <a:ext cx="13716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latin typeface="Avenir Book" panose="02000503020000020003" pitchFamily="2" charset="0"/>
                  <a:cs typeface="Times New Roman" panose="02020603050405020304" pitchFamily="18" charset="0"/>
                </a:rPr>
                <a:t>Figure 3 Caption</a:t>
              </a:r>
            </a:p>
          </p:txBody>
        </p:sp>
      </p:grpSp>
      <p:pic>
        <p:nvPicPr>
          <p:cNvPr id="1026" name="Picture 2" descr="George Mason University Logo-4C v">
            <a:extLst>
              <a:ext uri="{FF2B5EF4-FFF2-40B4-BE49-F238E27FC236}">
                <a16:creationId xmlns:a16="http://schemas.microsoft.com/office/drawing/2014/main" id="{2A71ADC8-EF61-FF03-2426-7AACEA4FA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96478"/>
            <a:ext cx="4343400" cy="508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4E08D4-4DA8-B226-0957-3117D7FADE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1" y="22646911"/>
            <a:ext cx="13868399" cy="69238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60CEE32-C365-8995-FA08-047A89BBE7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82750" y="5205538"/>
            <a:ext cx="13629165" cy="100405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258FCE1-B917-9064-903B-0AFA519F4E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4578" y="12553716"/>
            <a:ext cx="14046235" cy="10972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1F10AD-1ABB-E0AF-A9AA-7DF8A70B7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423193"/>
            <a:ext cx="45413203" cy="8463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244398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616161"/>
                </a:solidFill>
                <a:effectLst/>
                <a:latin typeface="FluentSystemIconsRegular"/>
              </a:rPr>
              <a:t>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Jonathan L Auerbach</a:t>
            </a:r>
            <a:endParaRPr kumimoji="0" lang="en-US" alt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427B5A37-9AB5-7C14-5F46-058B20287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38912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244398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rgbClr val="616161"/>
                </a:solidFill>
                <a:effectLst/>
                <a:latin typeface="FluentSystemIconsRegular"/>
              </a:rPr>
              <a:t>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Jonathan L Auerbach</a:t>
            </a:r>
            <a:endParaRPr kumimoji="0" lang="en-US" alt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7CC95C54-EC8E-B196-9621-222292648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438912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Jonathan L Auerbach</a:t>
            </a:r>
            <a:endParaRPr kumimoji="0" lang="en-US" alt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0483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3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l">
          <a:defRPr sz="6600" b="1" dirty="0" smtClean="0">
            <a:solidFill>
              <a:schemeClr val="tx1"/>
            </a:solidFill>
            <a:latin typeface="Avenir Book" panose="02000503020000020003" pitchFamily="2" charset="0"/>
            <a:cs typeface="Times New Roman" panose="020206030504050203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SCAR Research Poster Template Final" id="{D86A0E3A-2FCB-0D46-B95A-195BA78DD8F9}" vid="{2124563E-4373-0242-8C6E-0A998DDC20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</TotalTime>
  <Words>334</Words>
  <Application>Microsoft Macintosh PowerPoint</Application>
  <PresentationFormat>Custom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Avenir Book</vt:lpstr>
      <vt:lpstr>Calibri</vt:lpstr>
      <vt:lpstr>Calibri Light</vt:lpstr>
      <vt:lpstr>FluentSystemIconsRegular</vt:lpstr>
      <vt:lpstr>inherit</vt:lpstr>
      <vt:lpstr>Segoe UI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Jiaying Dai</dc:creator>
  <cp:lastModifiedBy>Abdullah Alshubaily</cp:lastModifiedBy>
  <cp:revision>5</cp:revision>
  <cp:lastPrinted>2026-04-20T02:21:05Z</cp:lastPrinted>
  <dcterms:created xsi:type="dcterms:W3CDTF">2025-02-25T15:28:03Z</dcterms:created>
  <dcterms:modified xsi:type="dcterms:W3CDTF">2026-04-20T04:53:14Z</dcterms:modified>
</cp:coreProperties>
</file>